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525000" cy="7137400"/>
  <p:notesSz cx="6858000" cy="9144000"/>
  <p:embeddedFontLst>
    <p:embeddedFont>
      <p:font typeface="Canva Sans" charset="1" panose="020B0503030501040103"/>
      <p:regular r:id="rId22"/>
    </p:embeddedFont>
    <p:embeddedFont>
      <p:font typeface="Canva Sans Bold Italics" charset="1" panose="020B0803030501040103"/>
      <p:regular r:id="rId23"/>
    </p:embeddedFont>
    <p:embeddedFont>
      <p:font typeface="Canva Sans Italics" charset="1" panose="020B0503030501040103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99816" y="1612115"/>
            <a:ext cx="3336479" cy="3833271"/>
          </a:xfrm>
          <a:custGeom>
            <a:avLst/>
            <a:gdLst/>
            <a:ahLst/>
            <a:cxnLst/>
            <a:rect r="r" b="b" t="t" l="l"/>
            <a:pathLst>
              <a:path h="3833271" w="3336479">
                <a:moveTo>
                  <a:pt x="0" y="0"/>
                </a:moveTo>
                <a:lnTo>
                  <a:pt x="3336480" y="0"/>
                </a:lnTo>
                <a:lnTo>
                  <a:pt x="3336480" y="3833270"/>
                </a:lnTo>
                <a:lnTo>
                  <a:pt x="0" y="3833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530" t="0" r="-2571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6983" y="1554965"/>
            <a:ext cx="3037565" cy="51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4"/>
              </a:lnSpc>
            </a:pPr>
            <a:r>
              <a:rPr lang="en-US" sz="30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Presentation 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6983" y="2425916"/>
            <a:ext cx="3858300" cy="142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40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process of EV Charging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4045" y="3958856"/>
            <a:ext cx="2329656" cy="34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</a:pPr>
            <a:r>
              <a:rPr lang="en-US" b="true" sz="1983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DATE - 26/09/2026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563" y="5512616"/>
            <a:ext cx="2008155" cy="3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sz="1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Nikhil Kushwah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9563" y="5869017"/>
            <a:ext cx="1821175" cy="19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0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EE, 7</a:t>
            </a:r>
            <a:r>
              <a:rPr lang="en-US" sz="120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</a:t>
            </a:r>
            <a:r>
              <a:rPr lang="en-US" sz="1206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Sem, SATI Vidisha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9563" y="6122698"/>
            <a:ext cx="2794206" cy="40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8"/>
              </a:lnSpc>
            </a:pPr>
            <a:r>
              <a:rPr lang="en-US" sz="117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E-Mail : nikhilkushwah078@gmail.com </a:t>
            </a:r>
          </a:p>
          <a:p>
            <a:pPr algn="l">
              <a:lnSpc>
                <a:spcPts val="1648"/>
              </a:lnSpc>
            </a:pPr>
            <a:r>
              <a:rPr lang="en-US" sz="117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Mo. NO. : 7987260228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773" y="-36556"/>
            <a:ext cx="8640445" cy="491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people thinks about the ev chaging</a:t>
            </a:r>
          </a:p>
          <a:p>
            <a:pPr algn="l" marL="690881" indent="-345440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ev charging actually is  </a:t>
            </a:r>
          </a:p>
          <a:p>
            <a:pPr algn="l" marL="690881" indent="-345440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 charging station </a:t>
            </a:r>
          </a:p>
          <a:p>
            <a:pPr algn="l" marL="690881" indent="-345440" lvl="1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 charging onboard system </a:t>
            </a:r>
          </a:p>
          <a:p>
            <a:pPr algn="l">
              <a:lnSpc>
                <a:spcPts val="80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68596" y="826889"/>
            <a:ext cx="3958160" cy="31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 batteries, single chargers etc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890168"/>
            <a:ext cx="9909075" cy="31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set of small battery connected in series, lithium can not go above 4.2v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8596" y="2874002"/>
            <a:ext cx="8141609" cy="55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</a:pPr>
            <a:r>
              <a:rPr lang="en-US" sz="16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converting the low voltage to high voltage dc and provide balanced supply buy comuniaciton to the bms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8596" y="3978220"/>
            <a:ext cx="7989670" cy="55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the bms monitor the voltage of each cell and and bypass the extra current ,</a:t>
            </a:r>
          </a:p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we can not seperatly charge each battery 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6665" y="4237438"/>
            <a:ext cx="4056836" cy="2191937"/>
          </a:xfrm>
          <a:custGeom>
            <a:avLst/>
            <a:gdLst/>
            <a:ahLst/>
            <a:cxnLst/>
            <a:rect r="r" b="b" t="t" l="l"/>
            <a:pathLst>
              <a:path h="2191937" w="4056836">
                <a:moveTo>
                  <a:pt x="0" y="0"/>
                </a:moveTo>
                <a:lnTo>
                  <a:pt x="4056836" y="0"/>
                </a:lnTo>
                <a:lnTo>
                  <a:pt x="4056836" y="2191937"/>
                </a:lnTo>
                <a:lnTo>
                  <a:pt x="0" y="2191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28853" y="4587606"/>
            <a:ext cx="3781772" cy="1651697"/>
          </a:xfrm>
          <a:custGeom>
            <a:avLst/>
            <a:gdLst/>
            <a:ahLst/>
            <a:cxnLst/>
            <a:rect r="r" b="b" t="t" l="l"/>
            <a:pathLst>
              <a:path h="1651697" w="3781772">
                <a:moveTo>
                  <a:pt x="0" y="0"/>
                </a:moveTo>
                <a:lnTo>
                  <a:pt x="3781772" y="0"/>
                </a:lnTo>
                <a:lnTo>
                  <a:pt x="3781772" y="1651698"/>
                </a:lnTo>
                <a:lnTo>
                  <a:pt x="0" y="1651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4102" y="235756"/>
            <a:ext cx="8434869" cy="48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8"/>
              </a:lnSpc>
              <a:spcBef>
                <a:spcPct val="0"/>
              </a:spcBef>
            </a:pPr>
            <a:r>
              <a:rPr lang="en-US" sz="29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Do We Usually Think About EV Charging ?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2336" y="970851"/>
            <a:ext cx="7615714" cy="237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650" indent="-29332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EV has one huge battery.</a:t>
            </a:r>
          </a:p>
          <a:p>
            <a:pPr algn="l" marL="586650" indent="-29332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battery is just 12 V.</a:t>
            </a:r>
          </a:p>
          <a:p>
            <a:pPr algn="l" marL="586650" indent="-29332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fast charger simply supplies more current.The battery is charged as one unit.</a:t>
            </a:r>
          </a:p>
          <a:p>
            <a:pPr algn="l" marL="586650" indent="-29332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charging circuit is inside the EV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7844" y="4397389"/>
            <a:ext cx="3850111" cy="2165035"/>
          </a:xfrm>
          <a:custGeom>
            <a:avLst/>
            <a:gdLst/>
            <a:ahLst/>
            <a:cxnLst/>
            <a:rect r="r" b="b" t="t" l="l"/>
            <a:pathLst>
              <a:path h="2165035" w="3850111">
                <a:moveTo>
                  <a:pt x="0" y="0"/>
                </a:moveTo>
                <a:lnTo>
                  <a:pt x="3850111" y="0"/>
                </a:lnTo>
                <a:lnTo>
                  <a:pt x="3850111" y="2165036"/>
                </a:lnTo>
                <a:lnTo>
                  <a:pt x="0" y="21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55592" y="378206"/>
            <a:ext cx="2562071" cy="3416095"/>
          </a:xfrm>
          <a:custGeom>
            <a:avLst/>
            <a:gdLst/>
            <a:ahLst/>
            <a:cxnLst/>
            <a:rect r="r" b="b" t="t" l="l"/>
            <a:pathLst>
              <a:path h="3416095" w="2562071">
                <a:moveTo>
                  <a:pt x="0" y="0"/>
                </a:moveTo>
                <a:lnTo>
                  <a:pt x="2562071" y="0"/>
                </a:lnTo>
                <a:lnTo>
                  <a:pt x="2562071" y="3416094"/>
                </a:lnTo>
                <a:lnTo>
                  <a:pt x="0" y="3416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62500" y="4073246"/>
            <a:ext cx="4300037" cy="2685495"/>
          </a:xfrm>
          <a:custGeom>
            <a:avLst/>
            <a:gdLst/>
            <a:ahLst/>
            <a:cxnLst/>
            <a:rect r="r" b="b" t="t" l="l"/>
            <a:pathLst>
              <a:path h="2685495" w="4300037">
                <a:moveTo>
                  <a:pt x="0" y="0"/>
                </a:moveTo>
                <a:lnTo>
                  <a:pt x="4300037" y="0"/>
                </a:lnTo>
                <a:lnTo>
                  <a:pt x="4300037" y="2685494"/>
                </a:lnTo>
                <a:lnTo>
                  <a:pt x="0" y="2685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594" y="247414"/>
            <a:ext cx="6086147" cy="57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  <a:spcBef>
                <a:spcPct val="0"/>
              </a:spcBef>
            </a:pPr>
            <a:r>
              <a:rPr lang="en-US" sz="33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Is EV Charging Actually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2594" y="1073866"/>
            <a:ext cx="5613998" cy="268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007" indent="-27850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 battery is the combination of multiple small cells </a:t>
            </a:r>
          </a:p>
          <a:p>
            <a:pPr algn="l" marL="557007" indent="-27850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 Batteries Operate at High Voltage (≈ 600 V)</a:t>
            </a:r>
          </a:p>
          <a:p>
            <a:pPr algn="l" marL="557007" indent="-278503" lvl="1">
              <a:lnSpc>
                <a:spcPts val="3611"/>
              </a:lnSpc>
              <a:buFont typeface="Arial"/>
              <a:buChar char="•"/>
            </a:pPr>
            <a:r>
              <a:rPr lang="en-US" sz="25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 charging system is outside the EV in charging station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706" y="3008664"/>
            <a:ext cx="5109648" cy="1968442"/>
          </a:xfrm>
          <a:custGeom>
            <a:avLst/>
            <a:gdLst/>
            <a:ahLst/>
            <a:cxnLst/>
            <a:rect r="r" b="b" t="t" l="l"/>
            <a:pathLst>
              <a:path h="1968442" w="5109648">
                <a:moveTo>
                  <a:pt x="0" y="0"/>
                </a:moveTo>
                <a:lnTo>
                  <a:pt x="5109648" y="0"/>
                </a:lnTo>
                <a:lnTo>
                  <a:pt x="5109648" y="1968441"/>
                </a:lnTo>
                <a:lnTo>
                  <a:pt x="0" y="1968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442" r="0" b="-12167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4221" y="3297554"/>
            <a:ext cx="4084415" cy="246037"/>
            <a:chOff x="0" y="0"/>
            <a:chExt cx="1210197" cy="72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197" cy="72900"/>
            </a:xfrm>
            <a:custGeom>
              <a:avLst/>
              <a:gdLst/>
              <a:ahLst/>
              <a:cxnLst/>
              <a:rect r="r" b="b" t="t" l="l"/>
              <a:pathLst>
                <a:path h="72900" w="1210197">
                  <a:moveTo>
                    <a:pt x="4443" y="0"/>
                  </a:moveTo>
                  <a:lnTo>
                    <a:pt x="1205755" y="0"/>
                  </a:lnTo>
                  <a:cubicBezTo>
                    <a:pt x="1206933" y="0"/>
                    <a:pt x="1208063" y="468"/>
                    <a:pt x="1208896" y="1301"/>
                  </a:cubicBezTo>
                  <a:cubicBezTo>
                    <a:pt x="1209729" y="2134"/>
                    <a:pt x="1210197" y="3264"/>
                    <a:pt x="1210197" y="4443"/>
                  </a:cubicBezTo>
                  <a:lnTo>
                    <a:pt x="1210197" y="68457"/>
                  </a:lnTo>
                  <a:cubicBezTo>
                    <a:pt x="1210197" y="69636"/>
                    <a:pt x="1209729" y="70766"/>
                    <a:pt x="1208896" y="71599"/>
                  </a:cubicBezTo>
                  <a:cubicBezTo>
                    <a:pt x="1208063" y="72432"/>
                    <a:pt x="1206933" y="72900"/>
                    <a:pt x="1205755" y="72900"/>
                  </a:cubicBezTo>
                  <a:lnTo>
                    <a:pt x="4443" y="72900"/>
                  </a:lnTo>
                  <a:cubicBezTo>
                    <a:pt x="3264" y="72900"/>
                    <a:pt x="2134" y="72432"/>
                    <a:pt x="1301" y="71599"/>
                  </a:cubicBezTo>
                  <a:cubicBezTo>
                    <a:pt x="468" y="70766"/>
                    <a:pt x="0" y="69636"/>
                    <a:pt x="0" y="68457"/>
                  </a:cubicBezTo>
                  <a:lnTo>
                    <a:pt x="0" y="4443"/>
                  </a:lnTo>
                  <a:cubicBezTo>
                    <a:pt x="0" y="3264"/>
                    <a:pt x="468" y="2134"/>
                    <a:pt x="1301" y="1301"/>
                  </a:cubicBezTo>
                  <a:cubicBezTo>
                    <a:pt x="2134" y="468"/>
                    <a:pt x="3264" y="0"/>
                    <a:pt x="4443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10197" cy="9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4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22354" y="2670956"/>
            <a:ext cx="4002646" cy="187297"/>
          </a:xfrm>
          <a:custGeom>
            <a:avLst/>
            <a:gdLst/>
            <a:ahLst/>
            <a:cxnLst/>
            <a:rect r="r" b="b" t="t" l="l"/>
            <a:pathLst>
              <a:path h="187297" w="4002646">
                <a:moveTo>
                  <a:pt x="0" y="0"/>
                </a:moveTo>
                <a:lnTo>
                  <a:pt x="4002646" y="0"/>
                </a:lnTo>
                <a:lnTo>
                  <a:pt x="4002646" y="187296"/>
                </a:lnTo>
                <a:lnTo>
                  <a:pt x="0" y="187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470" r="-14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023950">
            <a:off x="5051481" y="2961051"/>
            <a:ext cx="593192" cy="168251"/>
          </a:xfrm>
          <a:custGeom>
            <a:avLst/>
            <a:gdLst/>
            <a:ahLst/>
            <a:cxnLst/>
            <a:rect r="r" b="b" t="t" l="l"/>
            <a:pathLst>
              <a:path h="168251" w="593192">
                <a:moveTo>
                  <a:pt x="0" y="0"/>
                </a:moveTo>
                <a:lnTo>
                  <a:pt x="593192" y="0"/>
                </a:lnTo>
                <a:lnTo>
                  <a:pt x="593192" y="168251"/>
                </a:lnTo>
                <a:lnTo>
                  <a:pt x="0" y="168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23268" y="6004435"/>
            <a:ext cx="2030271" cy="849881"/>
          </a:xfrm>
          <a:custGeom>
            <a:avLst/>
            <a:gdLst/>
            <a:ahLst/>
            <a:cxnLst/>
            <a:rect r="r" b="b" t="t" l="l"/>
            <a:pathLst>
              <a:path h="849881" w="2030271">
                <a:moveTo>
                  <a:pt x="0" y="0"/>
                </a:moveTo>
                <a:lnTo>
                  <a:pt x="2030271" y="0"/>
                </a:lnTo>
                <a:lnTo>
                  <a:pt x="2030271" y="849880"/>
                </a:lnTo>
                <a:lnTo>
                  <a:pt x="0" y="8498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235396" y="176530"/>
            <a:ext cx="881881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Not Use One Giant Battery Cell 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0856" y="1063179"/>
            <a:ext cx="8249769" cy="102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  <a:spcBef>
                <a:spcPct val="0"/>
              </a:spcBef>
            </a:pPr>
            <a:r>
              <a:rPr lang="en-US" sz="19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operating voltage of a lithium-ion cell is fundamentally constrained by the electrochemical potential of its electrode materials and the stability window of its electrolyte.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755" y="5288229"/>
            <a:ext cx="5139297" cy="95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2"/>
              </a:lnSpc>
            </a:pPr>
            <a:r>
              <a:rPr lang="en-US" sz="18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Because of low voltage we need higher current for high power which increase the losses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4221" y="2578758"/>
            <a:ext cx="2791079" cy="33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b="true" sz="1967">
                <a:solidFill>
                  <a:srgbClr val="2D31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Electrochemical Series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4355510" y="5464132"/>
            <a:ext cx="1830573" cy="11276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5648220" y="3712225"/>
            <a:ext cx="3876780" cy="175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Due to very high current the battery produce significantly very high amount of heat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3879" y="475388"/>
            <a:ext cx="5373355" cy="2151619"/>
          </a:xfrm>
          <a:custGeom>
            <a:avLst/>
            <a:gdLst/>
            <a:ahLst/>
            <a:cxnLst/>
            <a:rect r="r" b="b" t="t" l="l"/>
            <a:pathLst>
              <a:path h="2151619" w="5373355">
                <a:moveTo>
                  <a:pt x="0" y="0"/>
                </a:moveTo>
                <a:lnTo>
                  <a:pt x="5373355" y="0"/>
                </a:lnTo>
                <a:lnTo>
                  <a:pt x="5373355" y="2151619"/>
                </a:lnTo>
                <a:lnTo>
                  <a:pt x="0" y="2151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43879" y="2712572"/>
            <a:ext cx="5373355" cy="3473384"/>
          </a:xfrm>
          <a:custGeom>
            <a:avLst/>
            <a:gdLst/>
            <a:ahLst/>
            <a:cxnLst/>
            <a:rect r="r" b="b" t="t" l="l"/>
            <a:pathLst>
              <a:path h="3473384" w="5373355">
                <a:moveTo>
                  <a:pt x="0" y="0"/>
                </a:moveTo>
                <a:lnTo>
                  <a:pt x="5373355" y="0"/>
                </a:lnTo>
                <a:lnTo>
                  <a:pt x="5373355" y="3473384"/>
                </a:lnTo>
                <a:lnTo>
                  <a:pt x="0" y="3473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829627" y="475388"/>
            <a:ext cx="3090537" cy="4217295"/>
          </a:xfrm>
          <a:custGeom>
            <a:avLst/>
            <a:gdLst/>
            <a:ahLst/>
            <a:cxnLst/>
            <a:rect r="r" b="b" t="t" l="l"/>
            <a:pathLst>
              <a:path h="4217295" w="3090537">
                <a:moveTo>
                  <a:pt x="0" y="0"/>
                </a:moveTo>
                <a:lnTo>
                  <a:pt x="3090537" y="0"/>
                </a:lnTo>
                <a:lnTo>
                  <a:pt x="3090537" y="4217295"/>
                </a:lnTo>
                <a:lnTo>
                  <a:pt x="0" y="4217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829627" y="4887102"/>
            <a:ext cx="3305804" cy="129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b="true" sz="2489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489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xtremely inefficient and thermally impractical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375" y="1405476"/>
            <a:ext cx="2514237" cy="2043736"/>
          </a:xfrm>
          <a:custGeom>
            <a:avLst/>
            <a:gdLst/>
            <a:ahLst/>
            <a:cxnLst/>
            <a:rect r="r" b="b" t="t" l="l"/>
            <a:pathLst>
              <a:path h="2043736" w="2514237">
                <a:moveTo>
                  <a:pt x="0" y="0"/>
                </a:moveTo>
                <a:lnTo>
                  <a:pt x="2514237" y="0"/>
                </a:lnTo>
                <a:lnTo>
                  <a:pt x="2514237" y="2043737"/>
                </a:lnTo>
                <a:lnTo>
                  <a:pt x="0" y="2043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3664" y="4191951"/>
            <a:ext cx="3367375" cy="1793973"/>
          </a:xfrm>
          <a:custGeom>
            <a:avLst/>
            <a:gdLst/>
            <a:ahLst/>
            <a:cxnLst/>
            <a:rect r="r" b="b" t="t" l="l"/>
            <a:pathLst>
              <a:path h="1793973" w="3367375">
                <a:moveTo>
                  <a:pt x="0" y="0"/>
                </a:moveTo>
                <a:lnTo>
                  <a:pt x="3367376" y="0"/>
                </a:lnTo>
                <a:lnTo>
                  <a:pt x="3367376" y="1793973"/>
                </a:lnTo>
                <a:lnTo>
                  <a:pt x="0" y="1793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989996" y="176530"/>
            <a:ext cx="881881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Topology of EV battery packs  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7014" y="885706"/>
            <a:ext cx="3695760" cy="361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5150" indent="-232575" lvl="1">
              <a:lnSpc>
                <a:spcPts val="3016"/>
              </a:lnSpc>
              <a:buAutoNum type="arabicPeriod" startAt="1"/>
            </a:pPr>
            <a:r>
              <a:rPr lang="en-US" sz="21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 series then parallel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1930" y="3620663"/>
            <a:ext cx="3690843" cy="361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5150" indent="-232575" lvl="1">
              <a:lnSpc>
                <a:spcPts val="3016"/>
              </a:lnSpc>
              <a:buAutoNum type="arabicPeriod" startAt="1"/>
            </a:pPr>
            <a:r>
              <a:rPr lang="en-US" sz="21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 Parallel then series 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3618819" y="1873058"/>
            <a:ext cx="1313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 flipH="true">
            <a:off x="4372817" y="2498672"/>
            <a:ext cx="882359" cy="16932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5139339" y="1199819"/>
            <a:ext cx="3305804" cy="129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b="true" sz="2489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Both has same voltage and current rating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32489" y="4144326"/>
            <a:ext cx="4247515" cy="163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 still the most of the EV battery pack uses the First parallel then series combination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686" y="313007"/>
            <a:ext cx="8725863" cy="98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Problems with the first series then parallel combination -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9568" y="1655852"/>
            <a:ext cx="2712109" cy="2204580"/>
          </a:xfrm>
          <a:custGeom>
            <a:avLst/>
            <a:gdLst/>
            <a:ahLst/>
            <a:cxnLst/>
            <a:rect r="r" b="b" t="t" l="l"/>
            <a:pathLst>
              <a:path h="2204580" w="2712109">
                <a:moveTo>
                  <a:pt x="0" y="0"/>
                </a:moveTo>
                <a:lnTo>
                  <a:pt x="2712109" y="0"/>
                </a:lnTo>
                <a:lnTo>
                  <a:pt x="2712109" y="2204580"/>
                </a:lnTo>
                <a:lnTo>
                  <a:pt x="0" y="2204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94298" y="1492608"/>
            <a:ext cx="5461251" cy="236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852" indent="-207426" lvl="1">
              <a:lnSpc>
                <a:spcPts val="269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 series then parallel need more complex BMS design to control the voltage of each cell  </a:t>
            </a:r>
          </a:p>
          <a:p>
            <a:pPr algn="l" marL="414852" indent="-207426" lvl="1">
              <a:lnSpc>
                <a:spcPts val="269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a cell become short circuited then it create the voltage imbalance between strings </a:t>
            </a:r>
          </a:p>
          <a:p>
            <a:pPr algn="l" marL="414852" indent="-207426" lvl="1">
              <a:lnSpc>
                <a:spcPts val="269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weak cell limits the entire series string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9197" y="5383413"/>
            <a:ext cx="3883127" cy="12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 A: 108 cells in series → 402 V</a:t>
            </a: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 B: 108 cells in series → 398 V</a:t>
            </a: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 C: 108 cells in series → 400 V</a:t>
            </a: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 D: 108 cells in series → 397 V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04011" y="4877524"/>
            <a:ext cx="3111605" cy="43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9"/>
              </a:lnSpc>
            </a:pPr>
            <a:r>
              <a:rPr lang="en-US" sz="25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-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65916" y="5380465"/>
            <a:ext cx="3206759" cy="125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3"/>
              </a:lnSpc>
              <a:spcBef>
                <a:spcPct val="0"/>
              </a:spcBef>
            </a:pPr>
            <a:r>
              <a:rPr lang="en-US" b="true" sz="1809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 equalization currents can flow between the strings because they are at different voltages.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4583673" y="6008893"/>
            <a:ext cx="1053069" cy="31722"/>
          </a:xfrm>
          <a:prstGeom prst="line">
            <a:avLst/>
          </a:prstGeom>
          <a:ln cap="flat" w="38100">
            <a:solidFill>
              <a:srgbClr val="D8170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2463681" y="4050932"/>
            <a:ext cx="7938700" cy="9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Cell 1 → Cell 2 → Cell 3 → ... → Cell 107 → Cell 108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↑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18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weak/aged cell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8538" y="1621287"/>
            <a:ext cx="6744344" cy="5046579"/>
            <a:chOff x="0" y="0"/>
            <a:chExt cx="10363200" cy="7754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63200" cy="7754493"/>
            </a:xfrm>
            <a:custGeom>
              <a:avLst/>
              <a:gdLst/>
              <a:ahLst/>
              <a:cxnLst/>
              <a:rect r="r" b="b" t="t" l="l"/>
              <a:pathLst>
                <a:path h="7754493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7754493"/>
                  </a:lnTo>
                  <a:lnTo>
                    <a:pt x="0" y="7754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21920">
            <a:off x="4634124" y="2450934"/>
            <a:ext cx="2492508" cy="1282649"/>
            <a:chOff x="0" y="0"/>
            <a:chExt cx="843831" cy="4342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3831" cy="434237"/>
            </a:xfrm>
            <a:custGeom>
              <a:avLst/>
              <a:gdLst/>
              <a:ahLst/>
              <a:cxnLst/>
              <a:rect r="r" b="b" t="t" l="l"/>
              <a:pathLst>
                <a:path h="434237" w="843831">
                  <a:moveTo>
                    <a:pt x="43679" y="0"/>
                  </a:moveTo>
                  <a:lnTo>
                    <a:pt x="800152" y="0"/>
                  </a:lnTo>
                  <a:cubicBezTo>
                    <a:pt x="811736" y="0"/>
                    <a:pt x="822846" y="4602"/>
                    <a:pt x="831038" y="12793"/>
                  </a:cubicBezTo>
                  <a:cubicBezTo>
                    <a:pt x="839229" y="20985"/>
                    <a:pt x="843831" y="32095"/>
                    <a:pt x="843831" y="43679"/>
                  </a:cubicBezTo>
                  <a:lnTo>
                    <a:pt x="843831" y="390558"/>
                  </a:lnTo>
                  <a:cubicBezTo>
                    <a:pt x="843831" y="402142"/>
                    <a:pt x="839229" y="413252"/>
                    <a:pt x="831038" y="421444"/>
                  </a:cubicBezTo>
                  <a:cubicBezTo>
                    <a:pt x="822846" y="429635"/>
                    <a:pt x="811736" y="434237"/>
                    <a:pt x="800152" y="434237"/>
                  </a:cubicBezTo>
                  <a:lnTo>
                    <a:pt x="43679" y="434237"/>
                  </a:lnTo>
                  <a:cubicBezTo>
                    <a:pt x="32095" y="434237"/>
                    <a:pt x="20985" y="429635"/>
                    <a:pt x="12793" y="421444"/>
                  </a:cubicBezTo>
                  <a:cubicBezTo>
                    <a:pt x="4602" y="413252"/>
                    <a:pt x="0" y="402142"/>
                    <a:pt x="0" y="390558"/>
                  </a:cubicBezTo>
                  <a:lnTo>
                    <a:pt x="0" y="43679"/>
                  </a:lnTo>
                  <a:cubicBezTo>
                    <a:pt x="0" y="32095"/>
                    <a:pt x="4602" y="20985"/>
                    <a:pt x="12793" y="12793"/>
                  </a:cubicBezTo>
                  <a:cubicBezTo>
                    <a:pt x="20985" y="4602"/>
                    <a:pt x="32095" y="0"/>
                    <a:pt x="436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3831" cy="46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106009">
            <a:off x="4357198" y="5343859"/>
            <a:ext cx="2280748" cy="1173677"/>
            <a:chOff x="0" y="0"/>
            <a:chExt cx="843831" cy="4342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3831" cy="434237"/>
            </a:xfrm>
            <a:custGeom>
              <a:avLst/>
              <a:gdLst/>
              <a:ahLst/>
              <a:cxnLst/>
              <a:rect r="r" b="b" t="t" l="l"/>
              <a:pathLst>
                <a:path h="434237" w="843831">
                  <a:moveTo>
                    <a:pt x="47735" y="0"/>
                  </a:moveTo>
                  <a:lnTo>
                    <a:pt x="796097" y="0"/>
                  </a:lnTo>
                  <a:cubicBezTo>
                    <a:pt x="808757" y="0"/>
                    <a:pt x="820898" y="5029"/>
                    <a:pt x="829850" y="13981"/>
                  </a:cubicBezTo>
                  <a:cubicBezTo>
                    <a:pt x="838802" y="22933"/>
                    <a:pt x="843831" y="35075"/>
                    <a:pt x="843831" y="47735"/>
                  </a:cubicBezTo>
                  <a:lnTo>
                    <a:pt x="843831" y="386502"/>
                  </a:lnTo>
                  <a:cubicBezTo>
                    <a:pt x="843831" y="399162"/>
                    <a:pt x="838802" y="411304"/>
                    <a:pt x="829850" y="420256"/>
                  </a:cubicBezTo>
                  <a:cubicBezTo>
                    <a:pt x="820898" y="429208"/>
                    <a:pt x="808757" y="434237"/>
                    <a:pt x="796097" y="434237"/>
                  </a:cubicBezTo>
                  <a:lnTo>
                    <a:pt x="47735" y="434237"/>
                  </a:lnTo>
                  <a:cubicBezTo>
                    <a:pt x="35075" y="434237"/>
                    <a:pt x="22933" y="429208"/>
                    <a:pt x="13981" y="420256"/>
                  </a:cubicBezTo>
                  <a:cubicBezTo>
                    <a:pt x="5029" y="411304"/>
                    <a:pt x="0" y="399162"/>
                    <a:pt x="0" y="386502"/>
                  </a:cubicBezTo>
                  <a:lnTo>
                    <a:pt x="0" y="47735"/>
                  </a:lnTo>
                  <a:cubicBezTo>
                    <a:pt x="0" y="35075"/>
                    <a:pt x="5029" y="22933"/>
                    <a:pt x="13981" y="13981"/>
                  </a:cubicBezTo>
                  <a:cubicBezTo>
                    <a:pt x="22933" y="5029"/>
                    <a:pt x="35075" y="0"/>
                    <a:pt x="477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3831" cy="46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3429235" y="3110615"/>
            <a:ext cx="1129056" cy="651861"/>
          </a:xfrm>
          <a:prstGeom prst="line">
            <a:avLst/>
          </a:prstGeom>
          <a:ln cap="flat" w="38100">
            <a:solidFill>
              <a:srgbClr val="D8170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5683823" y="3589246"/>
            <a:ext cx="2963171" cy="2963171"/>
          </a:xfrm>
          <a:custGeom>
            <a:avLst/>
            <a:gdLst/>
            <a:ahLst/>
            <a:cxnLst/>
            <a:rect r="r" b="b" t="t" l="l"/>
            <a:pathLst>
              <a:path h="2963171" w="2963171">
                <a:moveTo>
                  <a:pt x="0" y="0"/>
                </a:moveTo>
                <a:lnTo>
                  <a:pt x="2963171" y="0"/>
                </a:lnTo>
                <a:lnTo>
                  <a:pt x="2963171" y="2963171"/>
                </a:lnTo>
                <a:lnTo>
                  <a:pt x="0" y="2963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2971" y="234087"/>
            <a:ext cx="8725863" cy="48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Battery Management System (BMS) Of EV -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2971" y="868423"/>
            <a:ext cx="7448065" cy="83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  <a:spcBef>
                <a:spcPct val="0"/>
              </a:spcBef>
            </a:pPr>
            <a:r>
              <a:rPr lang="en-US" sz="15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BMS is an electronic system that monitors and controls a battery pack by managing parameters such as voltage, current, temperature, and state of charge to ensure safe, efficient, and reliable operation.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6956" y="2261905"/>
            <a:ext cx="3206759" cy="125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3"/>
              </a:lnSpc>
              <a:spcBef>
                <a:spcPct val="0"/>
              </a:spcBef>
            </a:pPr>
            <a:r>
              <a:rPr lang="en-US" b="true" sz="1809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are use to measure the voltage and bypass the charging current when a particular set of battery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74537" y="1579605"/>
            <a:ext cx="1430456" cy="4512989"/>
          </a:xfrm>
          <a:custGeom>
            <a:avLst/>
            <a:gdLst/>
            <a:ahLst/>
            <a:cxnLst/>
            <a:rect r="r" b="b" t="t" l="l"/>
            <a:pathLst>
              <a:path h="4512989" w="1430456">
                <a:moveTo>
                  <a:pt x="0" y="0"/>
                </a:moveTo>
                <a:lnTo>
                  <a:pt x="1430456" y="0"/>
                </a:lnTo>
                <a:lnTo>
                  <a:pt x="1430456" y="4512989"/>
                </a:lnTo>
                <a:lnTo>
                  <a:pt x="0" y="4512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72214" y="1578633"/>
            <a:ext cx="1666444" cy="4513961"/>
          </a:xfrm>
          <a:custGeom>
            <a:avLst/>
            <a:gdLst/>
            <a:ahLst/>
            <a:cxnLst/>
            <a:rect r="r" b="b" t="t" l="l"/>
            <a:pathLst>
              <a:path h="4513961" w="1666444">
                <a:moveTo>
                  <a:pt x="0" y="0"/>
                </a:moveTo>
                <a:lnTo>
                  <a:pt x="1666444" y="0"/>
                </a:lnTo>
                <a:lnTo>
                  <a:pt x="1666444" y="4513961"/>
                </a:lnTo>
                <a:lnTo>
                  <a:pt x="0" y="4513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9568" y="4612295"/>
            <a:ext cx="1831779" cy="1831779"/>
          </a:xfrm>
          <a:custGeom>
            <a:avLst/>
            <a:gdLst/>
            <a:ahLst/>
            <a:cxnLst/>
            <a:rect r="r" b="b" t="t" l="l"/>
            <a:pathLst>
              <a:path h="1831779" w="1831779">
                <a:moveTo>
                  <a:pt x="0" y="0"/>
                </a:moveTo>
                <a:lnTo>
                  <a:pt x="1831779" y="0"/>
                </a:lnTo>
                <a:lnTo>
                  <a:pt x="1831779" y="1831780"/>
                </a:lnTo>
                <a:lnTo>
                  <a:pt x="0" y="1831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410105" y="4612295"/>
            <a:ext cx="1577110" cy="1831779"/>
          </a:xfrm>
          <a:custGeom>
            <a:avLst/>
            <a:gdLst/>
            <a:ahLst/>
            <a:cxnLst/>
            <a:rect r="r" b="b" t="t" l="l"/>
            <a:pathLst>
              <a:path h="1831779" w="1577110">
                <a:moveTo>
                  <a:pt x="0" y="0"/>
                </a:moveTo>
                <a:lnTo>
                  <a:pt x="1577109" y="0"/>
                </a:lnTo>
                <a:lnTo>
                  <a:pt x="1577109" y="1831780"/>
                </a:lnTo>
                <a:lnTo>
                  <a:pt x="0" y="18317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260841" y="4612295"/>
            <a:ext cx="1453085" cy="1831779"/>
          </a:xfrm>
          <a:custGeom>
            <a:avLst/>
            <a:gdLst/>
            <a:ahLst/>
            <a:cxnLst/>
            <a:rect r="r" b="b" t="t" l="l"/>
            <a:pathLst>
              <a:path h="1831779" w="1453085">
                <a:moveTo>
                  <a:pt x="0" y="0"/>
                </a:moveTo>
                <a:lnTo>
                  <a:pt x="1453085" y="0"/>
                </a:lnTo>
                <a:lnTo>
                  <a:pt x="1453085" y="1831780"/>
                </a:lnTo>
                <a:lnTo>
                  <a:pt x="0" y="1831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399" r="0" b="-23253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399568" y="234087"/>
            <a:ext cx="8725863" cy="48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 Battery Charging System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0503" y="903896"/>
            <a:ext cx="5440793" cy="18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EV CHARGING</a:t>
            </a:r>
          </a:p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    │</a:t>
            </a:r>
          </a:p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┌───────────┴────────┐</a:t>
            </a:r>
          </a:p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│                                                                                  │</a:t>
            </a:r>
          </a:p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AC Charging                                                           DC Charging</a:t>
            </a:r>
          </a:p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│                                                                                  │</a:t>
            </a:r>
          </a:p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┌──┴─────┐                                         DC Fast Charging                                                     │                                   │                                                         │</a:t>
            </a:r>
          </a:p>
          <a:p>
            <a:pPr algn="l">
              <a:lnSpc>
                <a:spcPts val="1692"/>
              </a:lnSpc>
              <a:spcBef>
                <a:spcPct val="0"/>
              </a:spcBef>
            </a:pPr>
            <a:r>
              <a:rPr lang="en-US" sz="12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Level 1                   Level 2                                            High Power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8953" y="3196098"/>
            <a:ext cx="3316581" cy="2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  <a:spcBef>
                <a:spcPct val="0"/>
              </a:spcBef>
            </a:pPr>
            <a:r>
              <a:rPr lang="en-US" sz="12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Grid AC → EV onboard charger → DC → Battery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645" y="2981338"/>
            <a:ext cx="977190" cy="18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  <a:spcBef>
                <a:spcPct val="0"/>
              </a:spcBef>
            </a:pPr>
            <a:r>
              <a:rPr lang="en-US" b="true" sz="10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AC Charging -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661" y="4007940"/>
            <a:ext cx="944800" cy="18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1"/>
              </a:lnSpc>
              <a:spcBef>
                <a:spcPct val="0"/>
              </a:spcBef>
            </a:pPr>
            <a:r>
              <a:rPr lang="en-US" b="true" sz="11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DC Charging 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8953" y="4254534"/>
            <a:ext cx="3731887" cy="19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"/>
              </a:lnSpc>
              <a:spcBef>
                <a:spcPct val="0"/>
              </a:spcBef>
            </a:pPr>
            <a:r>
              <a:rPr lang="en-US" sz="11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Grid AC → external charger → controlled DC → Battery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10364" y="3457984"/>
            <a:ext cx="3568361" cy="41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2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Level 1 - Single phase charging </a:t>
            </a:r>
          </a:p>
          <a:p>
            <a:pPr algn="ctr">
              <a:lnSpc>
                <a:spcPts val="1682"/>
              </a:lnSpc>
              <a:spcBef>
                <a:spcPct val="0"/>
              </a:spcBef>
            </a:pPr>
            <a:r>
              <a:rPr lang="en-US" sz="12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Level 2 - Three phase charging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87145" y="837228"/>
            <a:ext cx="1985069" cy="58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  <a:spcBef>
                <a:spcPct val="0"/>
              </a:spcBef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 charging architecture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8349" y="837228"/>
            <a:ext cx="1985069" cy="58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  <a:spcBef>
                <a:spcPct val="0"/>
              </a:spcBef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 charging architecture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9290" y="6425025"/>
            <a:ext cx="1143159" cy="19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9"/>
              </a:lnSpc>
            </a:pPr>
            <a:r>
              <a:rPr lang="en-US" sz="1185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Level 1 charger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7534" y="6464844"/>
            <a:ext cx="1145699" cy="19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9"/>
              </a:lnSpc>
            </a:pPr>
            <a:r>
              <a:rPr lang="en-US" sz="1185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Level 2 charger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60841" y="6464844"/>
            <a:ext cx="1233329" cy="19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9"/>
              </a:lnSpc>
            </a:pPr>
            <a:r>
              <a:rPr lang="en-US" sz="1185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DC Fast Charger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1718" y="866084"/>
            <a:ext cx="4079731" cy="4740297"/>
          </a:xfrm>
          <a:custGeom>
            <a:avLst/>
            <a:gdLst/>
            <a:ahLst/>
            <a:cxnLst/>
            <a:rect r="r" b="b" t="t" l="l"/>
            <a:pathLst>
              <a:path h="4740297" w="4079731">
                <a:moveTo>
                  <a:pt x="0" y="0"/>
                </a:moveTo>
                <a:lnTo>
                  <a:pt x="4079731" y="0"/>
                </a:lnTo>
                <a:lnTo>
                  <a:pt x="4079731" y="4740297"/>
                </a:lnTo>
                <a:lnTo>
                  <a:pt x="0" y="4740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4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2895501" y="5311401"/>
            <a:ext cx="897261" cy="294980"/>
            <a:chOff x="0" y="0"/>
            <a:chExt cx="127480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4807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807">
                  <a:moveTo>
                    <a:pt x="20223" y="0"/>
                  </a:moveTo>
                  <a:lnTo>
                    <a:pt x="1254584" y="0"/>
                  </a:lnTo>
                  <a:cubicBezTo>
                    <a:pt x="1259948" y="0"/>
                    <a:pt x="1265092" y="2131"/>
                    <a:pt x="1268884" y="5923"/>
                  </a:cubicBezTo>
                  <a:cubicBezTo>
                    <a:pt x="1272677" y="9716"/>
                    <a:pt x="1274807" y="14859"/>
                    <a:pt x="1274807" y="20223"/>
                  </a:cubicBezTo>
                  <a:lnTo>
                    <a:pt x="1274807" y="398877"/>
                  </a:lnTo>
                  <a:cubicBezTo>
                    <a:pt x="1274807" y="404241"/>
                    <a:pt x="1272677" y="409384"/>
                    <a:pt x="1268884" y="413177"/>
                  </a:cubicBezTo>
                  <a:cubicBezTo>
                    <a:pt x="1265092" y="416969"/>
                    <a:pt x="1259948" y="419100"/>
                    <a:pt x="1254584" y="419100"/>
                  </a:cubicBezTo>
                  <a:lnTo>
                    <a:pt x="20223" y="419100"/>
                  </a:lnTo>
                  <a:cubicBezTo>
                    <a:pt x="14859" y="419100"/>
                    <a:pt x="9716" y="416969"/>
                    <a:pt x="5923" y="413177"/>
                  </a:cubicBezTo>
                  <a:cubicBezTo>
                    <a:pt x="2131" y="409384"/>
                    <a:pt x="0" y="404241"/>
                    <a:pt x="0" y="398877"/>
                  </a:cubicBezTo>
                  <a:lnTo>
                    <a:pt x="0" y="20223"/>
                  </a:lnTo>
                  <a:cubicBezTo>
                    <a:pt x="0" y="14859"/>
                    <a:pt x="2131" y="9716"/>
                    <a:pt x="5923" y="5923"/>
                  </a:cubicBezTo>
                  <a:cubicBezTo>
                    <a:pt x="9716" y="2131"/>
                    <a:pt x="14859" y="0"/>
                    <a:pt x="20223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74807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2790770" y="5705193"/>
            <a:ext cx="157830" cy="439618"/>
          </a:xfrm>
          <a:prstGeom prst="line">
            <a:avLst/>
          </a:prstGeom>
          <a:ln cap="flat" w="285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894719" y="866084"/>
            <a:ext cx="4419875" cy="4447327"/>
          </a:xfrm>
          <a:custGeom>
            <a:avLst/>
            <a:gdLst/>
            <a:ahLst/>
            <a:cxnLst/>
            <a:rect r="r" b="b" t="t" l="l"/>
            <a:pathLst>
              <a:path h="4447327" w="4419875">
                <a:moveTo>
                  <a:pt x="0" y="0"/>
                </a:moveTo>
                <a:lnTo>
                  <a:pt x="4419875" y="0"/>
                </a:lnTo>
                <a:lnTo>
                  <a:pt x="4419875" y="4447327"/>
                </a:lnTo>
                <a:lnTo>
                  <a:pt x="0" y="44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2829520" y="2231545"/>
            <a:ext cx="1025840" cy="313884"/>
            <a:chOff x="0" y="0"/>
            <a:chExt cx="877782" cy="2685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7782" cy="268582"/>
            </a:xfrm>
            <a:custGeom>
              <a:avLst/>
              <a:gdLst/>
              <a:ahLst/>
              <a:cxnLst/>
              <a:rect r="r" b="b" t="t" l="l"/>
              <a:pathLst>
                <a:path h="268582" w="877782">
                  <a:moveTo>
                    <a:pt x="17688" y="0"/>
                  </a:moveTo>
                  <a:lnTo>
                    <a:pt x="860094" y="0"/>
                  </a:lnTo>
                  <a:cubicBezTo>
                    <a:pt x="869863" y="0"/>
                    <a:pt x="877782" y="7919"/>
                    <a:pt x="877782" y="17688"/>
                  </a:cubicBezTo>
                  <a:lnTo>
                    <a:pt x="877782" y="250894"/>
                  </a:lnTo>
                  <a:cubicBezTo>
                    <a:pt x="877782" y="260663"/>
                    <a:pt x="869863" y="268582"/>
                    <a:pt x="860094" y="268582"/>
                  </a:cubicBezTo>
                  <a:lnTo>
                    <a:pt x="17688" y="268582"/>
                  </a:lnTo>
                  <a:cubicBezTo>
                    <a:pt x="7919" y="268582"/>
                    <a:pt x="0" y="260663"/>
                    <a:pt x="0" y="250894"/>
                  </a:cubicBezTo>
                  <a:lnTo>
                    <a:pt x="0" y="17688"/>
                  </a:lnTo>
                  <a:cubicBezTo>
                    <a:pt x="0" y="7919"/>
                    <a:pt x="7919" y="0"/>
                    <a:pt x="17688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77782" cy="297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2962048" y="2601810"/>
            <a:ext cx="347899" cy="322698"/>
          </a:xfrm>
          <a:prstGeom prst="line">
            <a:avLst/>
          </a:prstGeom>
          <a:ln cap="flat" w="285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7027627" y="1961558"/>
            <a:ext cx="1303283" cy="269987"/>
            <a:chOff x="0" y="0"/>
            <a:chExt cx="1925716" cy="398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5716" cy="398929"/>
            </a:xfrm>
            <a:custGeom>
              <a:avLst/>
              <a:gdLst/>
              <a:ahLst/>
              <a:cxnLst/>
              <a:rect r="r" b="b" t="t" l="l"/>
              <a:pathLst>
                <a:path h="398929" w="1925716">
                  <a:moveTo>
                    <a:pt x="13923" y="0"/>
                  </a:moveTo>
                  <a:lnTo>
                    <a:pt x="1911794" y="0"/>
                  </a:lnTo>
                  <a:cubicBezTo>
                    <a:pt x="1915486" y="0"/>
                    <a:pt x="1919027" y="1467"/>
                    <a:pt x="1921638" y="4078"/>
                  </a:cubicBezTo>
                  <a:cubicBezTo>
                    <a:pt x="1924249" y="6689"/>
                    <a:pt x="1925716" y="10230"/>
                    <a:pt x="1925716" y="13923"/>
                  </a:cubicBezTo>
                  <a:lnTo>
                    <a:pt x="1925716" y="385007"/>
                  </a:lnTo>
                  <a:cubicBezTo>
                    <a:pt x="1925716" y="392696"/>
                    <a:pt x="1919483" y="398929"/>
                    <a:pt x="1911794" y="398929"/>
                  </a:cubicBezTo>
                  <a:lnTo>
                    <a:pt x="13923" y="398929"/>
                  </a:lnTo>
                  <a:cubicBezTo>
                    <a:pt x="10230" y="398929"/>
                    <a:pt x="6689" y="397462"/>
                    <a:pt x="4078" y="394851"/>
                  </a:cubicBezTo>
                  <a:cubicBezTo>
                    <a:pt x="1467" y="392240"/>
                    <a:pt x="0" y="388699"/>
                    <a:pt x="0" y="385007"/>
                  </a:cubicBezTo>
                  <a:lnTo>
                    <a:pt x="0" y="13923"/>
                  </a:lnTo>
                  <a:cubicBezTo>
                    <a:pt x="0" y="10230"/>
                    <a:pt x="1467" y="6689"/>
                    <a:pt x="4078" y="4078"/>
                  </a:cubicBezTo>
                  <a:cubicBezTo>
                    <a:pt x="6689" y="1467"/>
                    <a:pt x="10230" y="0"/>
                    <a:pt x="13923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925716" cy="42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034229" y="1304467"/>
            <a:ext cx="923195" cy="55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3"/>
              </a:lnSpc>
              <a:spcBef>
                <a:spcPct val="0"/>
              </a:spcBef>
            </a:pPr>
            <a:r>
              <a:rPr lang="en-US" b="true" sz="1123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three phase system 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888938" y="1646848"/>
            <a:ext cx="215718" cy="215718"/>
          </a:xfrm>
          <a:prstGeom prst="line">
            <a:avLst/>
          </a:prstGeom>
          <a:ln cap="flat" w="285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7104656" y="4254600"/>
            <a:ext cx="977621" cy="241039"/>
            <a:chOff x="0" y="0"/>
            <a:chExt cx="1444522" cy="3561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4522" cy="356156"/>
            </a:xfrm>
            <a:custGeom>
              <a:avLst/>
              <a:gdLst/>
              <a:ahLst/>
              <a:cxnLst/>
              <a:rect r="r" b="b" t="t" l="l"/>
              <a:pathLst>
                <a:path h="356156" w="1444522">
                  <a:moveTo>
                    <a:pt x="18560" y="0"/>
                  </a:moveTo>
                  <a:lnTo>
                    <a:pt x="1425962" y="0"/>
                  </a:lnTo>
                  <a:cubicBezTo>
                    <a:pt x="1436212" y="0"/>
                    <a:pt x="1444522" y="8310"/>
                    <a:pt x="1444522" y="18560"/>
                  </a:cubicBezTo>
                  <a:lnTo>
                    <a:pt x="1444522" y="337596"/>
                  </a:lnTo>
                  <a:cubicBezTo>
                    <a:pt x="1444522" y="342518"/>
                    <a:pt x="1442567" y="347239"/>
                    <a:pt x="1439086" y="350720"/>
                  </a:cubicBezTo>
                  <a:cubicBezTo>
                    <a:pt x="1435605" y="354201"/>
                    <a:pt x="1430884" y="356156"/>
                    <a:pt x="1425962" y="356156"/>
                  </a:cubicBezTo>
                  <a:lnTo>
                    <a:pt x="18560" y="356156"/>
                  </a:lnTo>
                  <a:cubicBezTo>
                    <a:pt x="8310" y="356156"/>
                    <a:pt x="0" y="347847"/>
                    <a:pt x="0" y="337596"/>
                  </a:cubicBezTo>
                  <a:lnTo>
                    <a:pt x="0" y="18560"/>
                  </a:lnTo>
                  <a:cubicBezTo>
                    <a:pt x="0" y="13638"/>
                    <a:pt x="1955" y="8917"/>
                    <a:pt x="5436" y="5436"/>
                  </a:cubicBezTo>
                  <a:cubicBezTo>
                    <a:pt x="8917" y="1955"/>
                    <a:pt x="13638" y="0"/>
                    <a:pt x="18560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44522" cy="384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6495826" y="4474536"/>
            <a:ext cx="609817" cy="1131844"/>
          </a:xfrm>
          <a:prstGeom prst="line">
            <a:avLst/>
          </a:prstGeom>
          <a:ln cap="flat" w="28575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351718" y="423911"/>
            <a:ext cx="1751544" cy="29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167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Level 1 Charging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7524" y="6049993"/>
            <a:ext cx="3387278" cy="66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  <a:spcBef>
                <a:spcPct val="0"/>
              </a:spcBef>
            </a:pPr>
            <a:r>
              <a:rPr lang="en-US" b="true" sz="1911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Take very long time to charge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1120" y="2669134"/>
            <a:ext cx="1140928" cy="48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  <a:spcBef>
                <a:spcPct val="0"/>
              </a:spcBef>
            </a:pPr>
            <a:r>
              <a:rPr lang="en-US" b="true" sz="1388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Very low power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94719" y="423911"/>
            <a:ext cx="1757961" cy="29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167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Level 2 Charging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62500" y="5793782"/>
            <a:ext cx="3414129" cy="56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  <a:spcBef>
                <a:spcPct val="0"/>
              </a:spcBef>
            </a:pPr>
            <a:r>
              <a:rPr lang="en-US" b="true" sz="1626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Generate significantly more power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610" y="765682"/>
            <a:ext cx="4683402" cy="6175119"/>
          </a:xfrm>
          <a:custGeom>
            <a:avLst/>
            <a:gdLst/>
            <a:ahLst/>
            <a:cxnLst/>
            <a:rect r="r" b="b" t="t" l="l"/>
            <a:pathLst>
              <a:path h="6175119" w="4683402">
                <a:moveTo>
                  <a:pt x="0" y="0"/>
                </a:moveTo>
                <a:lnTo>
                  <a:pt x="4683403" y="0"/>
                </a:lnTo>
                <a:lnTo>
                  <a:pt x="4683403" y="6175119"/>
                </a:lnTo>
                <a:lnTo>
                  <a:pt x="0" y="6175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46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3212" y="4093770"/>
            <a:ext cx="802318" cy="263767"/>
            <a:chOff x="0" y="0"/>
            <a:chExt cx="1274807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4807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807">
                  <a:moveTo>
                    <a:pt x="22616" y="0"/>
                  </a:moveTo>
                  <a:lnTo>
                    <a:pt x="1252191" y="0"/>
                  </a:lnTo>
                  <a:cubicBezTo>
                    <a:pt x="1264682" y="0"/>
                    <a:pt x="1274807" y="10125"/>
                    <a:pt x="1274807" y="22616"/>
                  </a:cubicBezTo>
                  <a:lnTo>
                    <a:pt x="1274807" y="396484"/>
                  </a:lnTo>
                  <a:cubicBezTo>
                    <a:pt x="1274807" y="408975"/>
                    <a:pt x="1264682" y="419100"/>
                    <a:pt x="1252191" y="419100"/>
                  </a:cubicBezTo>
                  <a:lnTo>
                    <a:pt x="22616" y="419100"/>
                  </a:lnTo>
                  <a:cubicBezTo>
                    <a:pt x="10125" y="419100"/>
                    <a:pt x="0" y="408975"/>
                    <a:pt x="0" y="396484"/>
                  </a:cubicBezTo>
                  <a:lnTo>
                    <a:pt x="0" y="22616"/>
                  </a:lnTo>
                  <a:cubicBezTo>
                    <a:pt x="0" y="10125"/>
                    <a:pt x="10125" y="0"/>
                    <a:pt x="22616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74807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25725" y="3096624"/>
            <a:ext cx="802318" cy="263767"/>
            <a:chOff x="0" y="0"/>
            <a:chExt cx="1274807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4807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807">
                  <a:moveTo>
                    <a:pt x="22616" y="0"/>
                  </a:moveTo>
                  <a:lnTo>
                    <a:pt x="1252191" y="0"/>
                  </a:lnTo>
                  <a:cubicBezTo>
                    <a:pt x="1264682" y="0"/>
                    <a:pt x="1274807" y="10125"/>
                    <a:pt x="1274807" y="22616"/>
                  </a:cubicBezTo>
                  <a:lnTo>
                    <a:pt x="1274807" y="396484"/>
                  </a:lnTo>
                  <a:cubicBezTo>
                    <a:pt x="1274807" y="408975"/>
                    <a:pt x="1264682" y="419100"/>
                    <a:pt x="1252191" y="419100"/>
                  </a:cubicBezTo>
                  <a:lnTo>
                    <a:pt x="22616" y="419100"/>
                  </a:lnTo>
                  <a:cubicBezTo>
                    <a:pt x="10125" y="419100"/>
                    <a:pt x="0" y="408975"/>
                    <a:pt x="0" y="396484"/>
                  </a:cubicBezTo>
                  <a:lnTo>
                    <a:pt x="0" y="22616"/>
                  </a:lnTo>
                  <a:cubicBezTo>
                    <a:pt x="0" y="10125"/>
                    <a:pt x="10125" y="0"/>
                    <a:pt x="22616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74807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2534513" y="3571875"/>
            <a:ext cx="424411" cy="467572"/>
          </a:xfrm>
          <a:prstGeom prst="line">
            <a:avLst/>
          </a:prstGeom>
          <a:ln cap="flat" w="1905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>
            <a:off x="2743924" y="2810922"/>
            <a:ext cx="214999" cy="232664"/>
          </a:xfrm>
          <a:prstGeom prst="line">
            <a:avLst/>
          </a:prstGeom>
          <a:ln cap="flat" w="1905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 flipH="true">
            <a:off x="1336527" y="3298983"/>
            <a:ext cx="250027" cy="237052"/>
          </a:xfrm>
          <a:prstGeom prst="line">
            <a:avLst/>
          </a:prstGeom>
          <a:ln cap="flat" w="28575">
            <a:solidFill>
              <a:srgbClr val="00BF6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H="true">
            <a:off x="1368696" y="2557559"/>
            <a:ext cx="217859" cy="0"/>
          </a:xfrm>
          <a:prstGeom prst="line">
            <a:avLst/>
          </a:prstGeom>
          <a:ln cap="flat" w="19050">
            <a:solidFill>
              <a:srgbClr val="00BF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566378" y="2425676"/>
            <a:ext cx="802318" cy="263767"/>
            <a:chOff x="0" y="0"/>
            <a:chExt cx="1274807" cy="41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4807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807">
                  <a:moveTo>
                    <a:pt x="22616" y="0"/>
                  </a:moveTo>
                  <a:lnTo>
                    <a:pt x="1252191" y="0"/>
                  </a:lnTo>
                  <a:cubicBezTo>
                    <a:pt x="1264682" y="0"/>
                    <a:pt x="1274807" y="10125"/>
                    <a:pt x="1274807" y="22616"/>
                  </a:cubicBezTo>
                  <a:lnTo>
                    <a:pt x="1274807" y="396484"/>
                  </a:lnTo>
                  <a:cubicBezTo>
                    <a:pt x="1274807" y="408975"/>
                    <a:pt x="1264682" y="419100"/>
                    <a:pt x="1252191" y="419100"/>
                  </a:cubicBezTo>
                  <a:lnTo>
                    <a:pt x="22616" y="419100"/>
                  </a:lnTo>
                  <a:cubicBezTo>
                    <a:pt x="10125" y="419100"/>
                    <a:pt x="0" y="408975"/>
                    <a:pt x="0" y="396484"/>
                  </a:cubicBezTo>
                  <a:lnTo>
                    <a:pt x="0" y="22616"/>
                  </a:lnTo>
                  <a:cubicBezTo>
                    <a:pt x="0" y="10125"/>
                    <a:pt x="10125" y="0"/>
                    <a:pt x="22616" y="0"/>
                  </a:cubicBezTo>
                  <a:close/>
                </a:path>
              </a:pathLst>
            </a:custGeom>
            <a:ln w="19050" cap="sq">
              <a:solidFill>
                <a:srgbClr val="00BF6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74807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44704" y="3404151"/>
            <a:ext cx="802318" cy="263767"/>
            <a:chOff x="0" y="0"/>
            <a:chExt cx="1274807" cy="419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4807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807">
                  <a:moveTo>
                    <a:pt x="22616" y="0"/>
                  </a:moveTo>
                  <a:lnTo>
                    <a:pt x="1252191" y="0"/>
                  </a:lnTo>
                  <a:cubicBezTo>
                    <a:pt x="1264682" y="0"/>
                    <a:pt x="1274807" y="10125"/>
                    <a:pt x="1274807" y="22616"/>
                  </a:cubicBezTo>
                  <a:lnTo>
                    <a:pt x="1274807" y="396484"/>
                  </a:lnTo>
                  <a:cubicBezTo>
                    <a:pt x="1274807" y="408975"/>
                    <a:pt x="1264682" y="419100"/>
                    <a:pt x="1252191" y="419100"/>
                  </a:cubicBezTo>
                  <a:lnTo>
                    <a:pt x="22616" y="419100"/>
                  </a:lnTo>
                  <a:cubicBezTo>
                    <a:pt x="10125" y="419100"/>
                    <a:pt x="0" y="408975"/>
                    <a:pt x="0" y="396484"/>
                  </a:cubicBezTo>
                  <a:lnTo>
                    <a:pt x="0" y="22616"/>
                  </a:lnTo>
                  <a:cubicBezTo>
                    <a:pt x="0" y="10125"/>
                    <a:pt x="10125" y="0"/>
                    <a:pt x="22616" y="0"/>
                  </a:cubicBezTo>
                  <a:close/>
                </a:path>
              </a:pathLst>
            </a:custGeom>
            <a:ln w="19050" cap="sq">
              <a:solidFill>
                <a:srgbClr val="00BF6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74807" cy="44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638312" y="6129118"/>
            <a:ext cx="1605428" cy="917264"/>
            <a:chOff x="0" y="0"/>
            <a:chExt cx="1274807" cy="7283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4807" cy="728364"/>
            </a:xfrm>
            <a:custGeom>
              <a:avLst/>
              <a:gdLst/>
              <a:ahLst/>
              <a:cxnLst/>
              <a:rect r="r" b="b" t="t" l="l"/>
              <a:pathLst>
                <a:path h="728364" w="1274807">
                  <a:moveTo>
                    <a:pt x="11302" y="0"/>
                  </a:moveTo>
                  <a:lnTo>
                    <a:pt x="1263505" y="0"/>
                  </a:lnTo>
                  <a:cubicBezTo>
                    <a:pt x="1269747" y="0"/>
                    <a:pt x="1274807" y="5060"/>
                    <a:pt x="1274807" y="11302"/>
                  </a:cubicBezTo>
                  <a:lnTo>
                    <a:pt x="1274807" y="717061"/>
                  </a:lnTo>
                  <a:cubicBezTo>
                    <a:pt x="1274807" y="720059"/>
                    <a:pt x="1273616" y="722934"/>
                    <a:pt x="1271497" y="725053"/>
                  </a:cubicBezTo>
                  <a:cubicBezTo>
                    <a:pt x="1269377" y="727173"/>
                    <a:pt x="1266502" y="728364"/>
                    <a:pt x="1263505" y="728364"/>
                  </a:cubicBezTo>
                  <a:lnTo>
                    <a:pt x="11302" y="728364"/>
                  </a:lnTo>
                  <a:cubicBezTo>
                    <a:pt x="5060" y="728364"/>
                    <a:pt x="0" y="723303"/>
                    <a:pt x="0" y="717061"/>
                  </a:cubicBezTo>
                  <a:lnTo>
                    <a:pt x="0" y="11302"/>
                  </a:lnTo>
                  <a:cubicBezTo>
                    <a:pt x="0" y="5060"/>
                    <a:pt x="5060" y="0"/>
                    <a:pt x="11302" y="0"/>
                  </a:cubicBezTo>
                  <a:close/>
                </a:path>
              </a:pathLst>
            </a:custGeom>
            <a:ln w="19050" cap="sq">
              <a:solidFill>
                <a:srgbClr val="00BF6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74807" cy="756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4412279" y="6304820"/>
            <a:ext cx="665186" cy="0"/>
          </a:xfrm>
          <a:prstGeom prst="line">
            <a:avLst/>
          </a:prstGeom>
          <a:ln cap="flat" w="38100">
            <a:solidFill>
              <a:srgbClr val="00BF6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4569527" y="398132"/>
            <a:ext cx="1542726" cy="1410303"/>
          </a:xfrm>
          <a:custGeom>
            <a:avLst/>
            <a:gdLst/>
            <a:ahLst/>
            <a:cxnLst/>
            <a:rect r="r" b="b" t="t" l="l"/>
            <a:pathLst>
              <a:path h="1410303" w="1542726">
                <a:moveTo>
                  <a:pt x="0" y="0"/>
                </a:moveTo>
                <a:lnTo>
                  <a:pt x="1542726" y="0"/>
                </a:lnTo>
                <a:lnTo>
                  <a:pt x="1542726" y="1410304"/>
                </a:lnTo>
                <a:lnTo>
                  <a:pt x="0" y="1410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616" t="-28361" r="-15594" b="-31577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263038" y="388607"/>
            <a:ext cx="1485547" cy="1410303"/>
          </a:xfrm>
          <a:custGeom>
            <a:avLst/>
            <a:gdLst/>
            <a:ahLst/>
            <a:cxnLst/>
            <a:rect r="r" b="b" t="t" l="l"/>
            <a:pathLst>
              <a:path h="1410303" w="1485547">
                <a:moveTo>
                  <a:pt x="0" y="0"/>
                </a:moveTo>
                <a:lnTo>
                  <a:pt x="1485547" y="0"/>
                </a:lnTo>
                <a:lnTo>
                  <a:pt x="1485547" y="1410304"/>
                </a:lnTo>
                <a:lnTo>
                  <a:pt x="0" y="1410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921" t="-17864" r="0" b="-25309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7945791" y="388607"/>
            <a:ext cx="1401034" cy="1410303"/>
          </a:xfrm>
          <a:custGeom>
            <a:avLst/>
            <a:gdLst/>
            <a:ahLst/>
            <a:cxnLst/>
            <a:rect r="r" b="b" t="t" l="l"/>
            <a:pathLst>
              <a:path h="1410303" w="1401034">
                <a:moveTo>
                  <a:pt x="0" y="0"/>
                </a:moveTo>
                <a:lnTo>
                  <a:pt x="1401034" y="0"/>
                </a:lnTo>
                <a:lnTo>
                  <a:pt x="1401034" y="1410304"/>
                </a:lnTo>
                <a:lnTo>
                  <a:pt x="0" y="1410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665" t="-15446" r="-8544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4516999" y="2557559"/>
            <a:ext cx="4347412" cy="2445419"/>
          </a:xfrm>
          <a:custGeom>
            <a:avLst/>
            <a:gdLst/>
            <a:ahLst/>
            <a:cxnLst/>
            <a:rect r="r" b="b" t="t" l="l"/>
            <a:pathLst>
              <a:path h="2445419" w="4347412">
                <a:moveTo>
                  <a:pt x="0" y="0"/>
                </a:moveTo>
                <a:lnTo>
                  <a:pt x="4347412" y="0"/>
                </a:lnTo>
                <a:lnTo>
                  <a:pt x="4347412" y="2445419"/>
                </a:lnTo>
                <a:lnTo>
                  <a:pt x="0" y="2445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516999" y="5357935"/>
            <a:ext cx="263895" cy="186046"/>
          </a:xfrm>
          <a:custGeom>
            <a:avLst/>
            <a:gdLst/>
            <a:ahLst/>
            <a:cxnLst/>
            <a:rect r="r" b="b" t="t" l="l"/>
            <a:pathLst>
              <a:path h="186046" w="263895">
                <a:moveTo>
                  <a:pt x="0" y="0"/>
                </a:moveTo>
                <a:lnTo>
                  <a:pt x="263895" y="0"/>
                </a:lnTo>
                <a:lnTo>
                  <a:pt x="263895" y="186046"/>
                </a:lnTo>
                <a:lnTo>
                  <a:pt x="0" y="1860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44704" y="108036"/>
            <a:ext cx="2373375" cy="50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29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DC Charging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8432" y="2425595"/>
            <a:ext cx="989017" cy="97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b="true" sz="1399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Decreasing current by increasing the voltage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28345" y="6066369"/>
            <a:ext cx="2807556" cy="87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  <a:spcBef>
                <a:spcPct val="0"/>
              </a:spcBef>
            </a:pPr>
            <a:r>
              <a:rPr lang="en-US" b="true" sz="1686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Increasing the voltage twice reduce the power loss by 1/4</a:t>
            </a:r>
            <a:r>
              <a:rPr lang="en-US" b="true" sz="1686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</a:t>
            </a:r>
            <a:r>
              <a:rPr lang="en-US" b="true" sz="1686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69527" y="1911985"/>
            <a:ext cx="1317636" cy="23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2"/>
              </a:lnSpc>
            </a:pPr>
            <a:r>
              <a:rPr lang="en-US" sz="14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Level 1 Charger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63038" y="1911985"/>
            <a:ext cx="1320475" cy="23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2"/>
              </a:lnSpc>
            </a:pPr>
            <a:r>
              <a:rPr lang="en-US" sz="14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Level 2 Charger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54988" y="1911985"/>
            <a:ext cx="981564" cy="23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2"/>
              </a:lnSpc>
            </a:pPr>
            <a:r>
              <a:rPr lang="en-US" sz="14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 Charger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59966" y="5107722"/>
            <a:ext cx="8343626" cy="17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6"/>
              </a:lnSpc>
            </a:pPr>
            <a:r>
              <a:rPr lang="en-US" sz="1083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Source: https://www.youtube.com/watch?v=jZBsOud4O9Q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828829" y="5338885"/>
            <a:ext cx="799033" cy="19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"/>
              </a:lnSpc>
            </a:pPr>
            <a:r>
              <a:rPr lang="en-US" sz="11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WaberAuto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990600" y="1049988"/>
          <a:ext cx="7543800" cy="5657850"/>
        </p:xfrm>
        <a:graphic>
          <a:graphicData uri="http://schemas.openxmlformats.org/presentationml/2006/ole">
            <p:oleObj imgW="9042400" imgH="7162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830702" y="176530"/>
            <a:ext cx="383968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Comparison table -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58744" y="274749"/>
            <a:ext cx="1894188" cy="6594252"/>
          </a:xfrm>
          <a:custGeom>
            <a:avLst/>
            <a:gdLst/>
            <a:ahLst/>
            <a:cxnLst/>
            <a:rect r="r" b="b" t="t" l="l"/>
            <a:pathLst>
              <a:path h="6594252" w="1894188">
                <a:moveTo>
                  <a:pt x="0" y="0"/>
                </a:moveTo>
                <a:lnTo>
                  <a:pt x="1894188" y="0"/>
                </a:lnTo>
                <a:lnTo>
                  <a:pt x="1894188" y="6594252"/>
                </a:lnTo>
                <a:lnTo>
                  <a:pt x="0" y="659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0281" y="808533"/>
            <a:ext cx="6467252" cy="2067389"/>
          </a:xfrm>
          <a:custGeom>
            <a:avLst/>
            <a:gdLst/>
            <a:ahLst/>
            <a:cxnLst/>
            <a:rect r="r" b="b" t="t" l="l"/>
            <a:pathLst>
              <a:path h="2067389" w="6467252">
                <a:moveTo>
                  <a:pt x="0" y="0"/>
                </a:moveTo>
                <a:lnTo>
                  <a:pt x="6467252" y="0"/>
                </a:lnTo>
                <a:lnTo>
                  <a:pt x="6467252" y="2067389"/>
                </a:lnTo>
                <a:lnTo>
                  <a:pt x="0" y="2067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5940" r="0" b="-1359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581" y="127029"/>
            <a:ext cx="4873756" cy="48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sz="28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 Charging Topology  -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0281" y="2906121"/>
            <a:ext cx="6176507" cy="109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750" indent="-225875" lvl="1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 we convert the AC into DC and then we use high frequency DC to DC converter to step up the voltage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281" y="4152134"/>
            <a:ext cx="6176507" cy="109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750" indent="-225875" lvl="1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convert the first AC to DC then step up the voltage because the EV battery voltage will vary too much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281" y="5398148"/>
            <a:ext cx="6176507" cy="147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750" indent="-225875" lvl="1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due to high frequency switching we need small ferrite core transformers instead on large iron core transformer which create huge loss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88968" y="1053847"/>
            <a:ext cx="2607513" cy="3476683"/>
          </a:xfrm>
          <a:custGeom>
            <a:avLst/>
            <a:gdLst/>
            <a:ahLst/>
            <a:cxnLst/>
            <a:rect r="r" b="b" t="t" l="l"/>
            <a:pathLst>
              <a:path h="3476683" w="2607513">
                <a:moveTo>
                  <a:pt x="0" y="0"/>
                </a:moveTo>
                <a:lnTo>
                  <a:pt x="2607512" y="0"/>
                </a:lnTo>
                <a:lnTo>
                  <a:pt x="2607512" y="3476684"/>
                </a:lnTo>
                <a:lnTo>
                  <a:pt x="0" y="3476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3687" y="4711773"/>
            <a:ext cx="3182793" cy="1790321"/>
          </a:xfrm>
          <a:custGeom>
            <a:avLst/>
            <a:gdLst/>
            <a:ahLst/>
            <a:cxnLst/>
            <a:rect r="r" b="b" t="t" l="l"/>
            <a:pathLst>
              <a:path h="1790321" w="3182793">
                <a:moveTo>
                  <a:pt x="0" y="0"/>
                </a:moveTo>
                <a:lnTo>
                  <a:pt x="3182793" y="0"/>
                </a:lnTo>
                <a:lnTo>
                  <a:pt x="3182793" y="1790321"/>
                </a:lnTo>
                <a:lnTo>
                  <a:pt x="0" y="1790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2733" y="4336144"/>
            <a:ext cx="4199289" cy="2441647"/>
          </a:xfrm>
          <a:custGeom>
            <a:avLst/>
            <a:gdLst/>
            <a:ahLst/>
            <a:cxnLst/>
            <a:rect r="r" b="b" t="t" l="l"/>
            <a:pathLst>
              <a:path h="2441647" w="4199289">
                <a:moveTo>
                  <a:pt x="0" y="0"/>
                </a:moveTo>
                <a:lnTo>
                  <a:pt x="4199289" y="0"/>
                </a:lnTo>
                <a:lnTo>
                  <a:pt x="4199289" y="2441647"/>
                </a:lnTo>
                <a:lnTo>
                  <a:pt x="0" y="2441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59" r="0" b="-1759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42733" y="223234"/>
            <a:ext cx="7370618" cy="49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fast EV Chargers are very big in size -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7420" y="1015747"/>
            <a:ext cx="5464859" cy="297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475" indent="-231238" lvl="1">
              <a:lnSpc>
                <a:spcPts val="2998"/>
              </a:lnSpc>
              <a:buFont typeface="Arial"/>
              <a:buChar char="•"/>
            </a:pPr>
            <a:r>
              <a:rPr lang="en-US" sz="21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handle hundreds of kilowatts of electrical power.</a:t>
            </a:r>
          </a:p>
          <a:p>
            <a:pPr algn="l" marL="462475" indent="-231238" lvl="1">
              <a:lnSpc>
                <a:spcPts val="2998"/>
              </a:lnSpc>
              <a:buFont typeface="Arial"/>
              <a:buChar char="•"/>
            </a:pPr>
            <a:r>
              <a:rPr lang="en-US" b="true" sz="2142" i="true">
                <a:solidFill>
                  <a:srgbClr val="FF313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High current causes significant I2R losses.</a:t>
            </a:r>
          </a:p>
          <a:p>
            <a:pPr algn="l" marL="462475" indent="-231238" lvl="1">
              <a:lnSpc>
                <a:spcPts val="2998"/>
              </a:lnSpc>
              <a:buFont typeface="Arial"/>
              <a:buChar char="•"/>
            </a:pPr>
            <a:r>
              <a:rPr lang="en-US" sz="21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 heat sinks, fans, or liquid-cooling systems are needed.</a:t>
            </a:r>
          </a:p>
          <a:p>
            <a:pPr algn="l" marL="462475" indent="-231238" lvl="1">
              <a:lnSpc>
                <a:spcPts val="2998"/>
              </a:lnSpc>
              <a:buFont typeface="Arial"/>
              <a:buChar char="•"/>
            </a:pPr>
            <a:r>
              <a:rPr lang="en-US" sz="21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 rectifiers, switches, inductors, and capacitors are required.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409910" y="6088335"/>
            <a:ext cx="1224153" cy="341040"/>
            <a:chOff x="0" y="0"/>
            <a:chExt cx="1274807" cy="3551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4807" cy="355151"/>
            </a:xfrm>
            <a:custGeom>
              <a:avLst/>
              <a:gdLst/>
              <a:ahLst/>
              <a:cxnLst/>
              <a:rect r="r" b="b" t="t" l="l"/>
              <a:pathLst>
                <a:path h="355151" w="1274807">
                  <a:moveTo>
                    <a:pt x="14823" y="0"/>
                  </a:moveTo>
                  <a:lnTo>
                    <a:pt x="1259985" y="0"/>
                  </a:lnTo>
                  <a:cubicBezTo>
                    <a:pt x="1263916" y="0"/>
                    <a:pt x="1267686" y="1562"/>
                    <a:pt x="1270466" y="4341"/>
                  </a:cubicBezTo>
                  <a:cubicBezTo>
                    <a:pt x="1273246" y="7121"/>
                    <a:pt x="1274807" y="10891"/>
                    <a:pt x="1274807" y="14823"/>
                  </a:cubicBezTo>
                  <a:lnTo>
                    <a:pt x="1274807" y="340329"/>
                  </a:lnTo>
                  <a:cubicBezTo>
                    <a:pt x="1274807" y="344260"/>
                    <a:pt x="1273246" y="348030"/>
                    <a:pt x="1270466" y="350810"/>
                  </a:cubicBezTo>
                  <a:cubicBezTo>
                    <a:pt x="1267686" y="353590"/>
                    <a:pt x="1263916" y="355151"/>
                    <a:pt x="1259985" y="355151"/>
                  </a:cubicBezTo>
                  <a:lnTo>
                    <a:pt x="14823" y="355151"/>
                  </a:lnTo>
                  <a:cubicBezTo>
                    <a:pt x="10891" y="355151"/>
                    <a:pt x="7121" y="353590"/>
                    <a:pt x="4341" y="350810"/>
                  </a:cubicBezTo>
                  <a:cubicBezTo>
                    <a:pt x="1562" y="348030"/>
                    <a:pt x="0" y="344260"/>
                    <a:pt x="0" y="340329"/>
                  </a:cubicBezTo>
                  <a:lnTo>
                    <a:pt x="0" y="14823"/>
                  </a:lnTo>
                  <a:cubicBezTo>
                    <a:pt x="0" y="10891"/>
                    <a:pt x="1562" y="7121"/>
                    <a:pt x="4341" y="4341"/>
                  </a:cubicBezTo>
                  <a:cubicBezTo>
                    <a:pt x="7121" y="1562"/>
                    <a:pt x="10891" y="0"/>
                    <a:pt x="14823" y="0"/>
                  </a:cubicBezTo>
                  <a:close/>
                </a:path>
              </a:pathLst>
            </a:custGeom>
            <a:ln w="190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74807" cy="38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2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839559" y="5969104"/>
            <a:ext cx="380291" cy="119232"/>
          </a:xfrm>
          <a:prstGeom prst="line">
            <a:avLst/>
          </a:prstGeom>
          <a:ln cap="flat" w="1905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1105529" y="5349751"/>
            <a:ext cx="1938723" cy="48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b="true" sz="1399">
                <a:solidFill>
                  <a:srgbClr val="D817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energy losses create lots of heat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4751" y="2462706"/>
            <a:ext cx="6695498" cy="138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0"/>
              </a:lnSpc>
            </a:pPr>
            <a:r>
              <a:rPr lang="en-US" sz="81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 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DAHV5rnRzpM</dc:identifier>
  <dcterms:modified xsi:type="dcterms:W3CDTF">2011-08-01T06:04:30Z</dcterms:modified>
  <cp:revision>1</cp:revision>
  <dc:title>Presentation on</dc:title>
</cp:coreProperties>
</file>